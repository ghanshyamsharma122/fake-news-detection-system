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58368"/>
            <a:ext cx="10378440" cy="160020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2700" b="1">
                <a:solidFill>
                  <a:srgbClr val="EEF0F3"/>
                </a:solidFill>
                <a:latin typeface="Cambria"/>
              </a:rPr>
              <a:t>NewsLens: Explainable Fake News
Detection Using Natural Language
Processing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566160" y="2542032"/>
            <a:ext cx="2011680" cy="0"/>
          </a:xfrm>
          <a:prstGeom prst="line">
            <a:avLst/>
          </a:prstGeom>
          <a:ln w="17780">
            <a:solidFill>
              <a:srgbClr val="C6F4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Hexagon 3"/>
          <p:cNvSpPr/>
          <p:nvPr/>
        </p:nvSpPr>
        <p:spPr>
          <a:xfrm>
            <a:off x="5715000" y="2340864"/>
            <a:ext cx="502920" cy="411480"/>
          </a:xfrm>
          <a:prstGeom prst="hexagon">
            <a:avLst/>
          </a:prstGeom>
          <a:solidFill>
            <a:srgbClr val="10141A"/>
          </a:solidFill>
          <a:ln w="15240"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0" y="2368296"/>
            <a:ext cx="502920" cy="30175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/>
            <a:r>
              <a:rPr sz="1200" b="1">
                <a:solidFill>
                  <a:srgbClr val="C6F432"/>
                </a:solidFill>
                <a:latin typeface="Courier New"/>
              </a:rPr>
              <a:t>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46520" y="2542032"/>
            <a:ext cx="2176272" cy="0"/>
          </a:xfrm>
          <a:prstGeom prst="line">
            <a:avLst/>
          </a:prstGeom>
          <a:ln w="17780">
            <a:solidFill>
              <a:srgbClr val="C6F4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852928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C6F432"/>
                </a:solidFill>
                <a:latin typeface="Courier New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Hitesh Sharma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02736"/>
            <a:ext cx="21488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AEB8C4"/>
                </a:solidFill>
                <a:latin typeface="Courier New"/>
              </a:rPr>
              <a:t>1BM23CS114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324612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Ghanshyam Sharma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602736"/>
            <a:ext cx="21488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AEB8C4"/>
                </a:solidFill>
                <a:latin typeface="Courier New"/>
              </a:rPr>
              <a:t>1BM23CS100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24612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Shreyash Shaurya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602736"/>
            <a:ext cx="21488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AEB8C4"/>
                </a:solidFill>
                <a:latin typeface="Courier New"/>
              </a:rPr>
              <a:t>1BM23CS354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24612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Utkrisht Umang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602736"/>
            <a:ext cx="214884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50" b="0">
                <a:solidFill>
                  <a:srgbClr val="AEB8C4"/>
                </a:solidFill>
                <a:latin typeface="Courier New"/>
              </a:rPr>
              <a:t>1BM23CS355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106984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C6F432"/>
                </a:solidFill>
                <a:latin typeface="Courier New"/>
              </a:rPr>
              <a:t>UNDER THE GUIDANCE 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07408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EEF0F3"/>
                </a:solidFill>
                <a:latin typeface="Aptos"/>
              </a:rPr>
              <a:t>Rajeshwari 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36592"/>
            <a:ext cx="106984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AEB8C4"/>
                </a:solidFill>
                <a:latin typeface="Aptos"/>
              </a:rPr>
              <a:t>Associate Professor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30368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EEF0F3"/>
                </a:solidFill>
                <a:latin typeface="Aptos"/>
              </a:rPr>
              <a:t>Department of Computer Science and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14416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AEB8C4"/>
                </a:solidFill>
                <a:latin typeface="Aptos"/>
              </a:rPr>
              <a:t>B.M.S.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777240" cy="438912"/>
          </a:xfrm>
          <a:prstGeom prst="roundRect">
            <a:avLst/>
          </a:prstGeom>
          <a:solidFill>
            <a:srgbClr val="C6F432"/>
          </a:solidFill>
          <a:ln w="8890"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0141A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83464"/>
            <a:ext cx="9509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EF0F3"/>
                </a:solidFill>
                <a:latin typeface="Cambria"/>
              </a:rPr>
              <a:t>Problem statement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2823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8C4"/>
                </a:solidFill>
                <a:latin typeface="Courier New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5120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C6F432"/>
                </a:solidFill>
                <a:latin typeface="Courier New"/>
              </a:rP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10512"/>
            <a:ext cx="493776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EEF0F3"/>
                </a:solidFill>
                <a:latin typeface="Cambria"/>
              </a:rPr>
              <a:t>A user may see a headline before checking the source. NewsLens gives a quick language-based signal for deciding whether the text needs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82112"/>
            <a:ext cx="475488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8C4"/>
                </a:solidFill>
                <a:latin typeface="Aptos"/>
              </a:rPr>
              <a:t>The output is not a fact-check. It is a prediction learned from labelled examples, so a person must still check the publisher, date, author and supporting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44752"/>
            <a:ext cx="5120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C6F432"/>
                </a:solidFill>
                <a:latin typeface="Courier New"/>
              </a:rPr>
              <a:t>OBJECTIVES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55080" y="1764791"/>
            <a:ext cx="4663440" cy="0"/>
          </a:xfrm>
          <a:prstGeom prst="line">
            <a:avLst/>
          </a:prstGeom>
          <a:ln w="8890">
            <a:solidFill>
              <a:srgbClr val="AE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55080" y="1874519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6F432"/>
                </a:solidFill>
                <a:latin typeface="Courier New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856231"/>
            <a:ext cx="3977639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EEF0F3"/>
                </a:solidFill>
                <a:latin typeface="Aptos"/>
              </a:rPr>
              <a:t>Train with Fake.csv and True.csv and evaluate on a held-out split.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55080" y="2880359"/>
            <a:ext cx="4663440" cy="0"/>
          </a:xfrm>
          <a:prstGeom prst="line">
            <a:avLst/>
          </a:prstGeom>
          <a:ln w="8890">
            <a:solidFill>
              <a:srgbClr val="AE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2990087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6F432"/>
                </a:solidFill>
                <a:latin typeface="Courier New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971799"/>
            <a:ext cx="3977639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EEF0F3"/>
                </a:solidFill>
                <a:latin typeface="Aptos"/>
              </a:rPr>
              <a:t>Use one model for headlines and another for longer articles.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55080" y="3995928"/>
            <a:ext cx="4663440" cy="0"/>
          </a:xfrm>
          <a:prstGeom prst="line">
            <a:avLst/>
          </a:prstGeom>
          <a:ln w="8890">
            <a:solidFill>
              <a:srgbClr val="AE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5080" y="4105656"/>
            <a:ext cx="5669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C6F432"/>
                </a:solidFill>
                <a:latin typeface="Courier New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087368"/>
            <a:ext cx="3977639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EEF0F3"/>
                </a:solidFill>
                <a:latin typeface="Aptos"/>
              </a:rPr>
              <a:t>Return a score, model name, language signals and a caution message.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57800"/>
            <a:ext cx="10469880" cy="713232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1C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68112"/>
            <a:ext cx="99669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C6F432"/>
                </a:solidFill>
                <a:latin typeface="Courier New"/>
              </a:rPr>
              <a:t>Scope: English text · two labels · local model artifact · Flask API · browser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777240" cy="438912"/>
          </a:xfrm>
          <a:prstGeom prst="roundRect">
            <a:avLst/>
          </a:prstGeom>
          <a:solidFill>
            <a:srgbClr val="C6F432"/>
          </a:solidFill>
          <a:ln w="8890"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0141A"/>
                </a:solidFill>
                <a:latin typeface="Courier New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83464"/>
            <a:ext cx="9509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EF0F3"/>
                </a:solidFill>
                <a:latin typeface="Cambria"/>
              </a:rPr>
              <a:t>NLP terms used in NewsLens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2823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8C4"/>
                </a:solidFill>
                <a:latin typeface="Courier New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5120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2A900"/>
                </a:solidFill>
                <a:latin typeface="Courier New"/>
              </a:rPr>
              <a:t>KEY VOCABULARY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737360"/>
            <a:ext cx="4526280" cy="0"/>
          </a:xfrm>
          <a:prstGeom prst="line">
            <a:avLst/>
          </a:prstGeom>
          <a:ln w="8890">
            <a:solidFill>
              <a:srgbClr val="AE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847088"/>
            <a:ext cx="5212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EF0F3"/>
                </a:solidFill>
                <a:latin typeface="Cambria"/>
              </a:rPr>
              <a:t>Tokenization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57984"/>
            <a:ext cx="50292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EB8C4"/>
                </a:solidFill>
                <a:latin typeface="Aptos"/>
              </a:rPr>
              <a:t>Splitting the input into words so the vectorizer can process the text.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743200"/>
            <a:ext cx="4526280" cy="0"/>
          </a:xfrm>
          <a:prstGeom prst="line">
            <a:avLst/>
          </a:prstGeom>
          <a:ln w="8890">
            <a:solidFill>
              <a:srgbClr val="AE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852928"/>
            <a:ext cx="5212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EF0F3"/>
                </a:solidFill>
                <a:latin typeface="Cambria"/>
              </a:rPr>
              <a:t>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63824"/>
            <a:ext cx="50292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EB8C4"/>
                </a:solidFill>
                <a:latin typeface="Aptos"/>
              </a:rPr>
              <a:t>Giving more weight to useful words and less weight to words common in many documents.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749040"/>
            <a:ext cx="4526280" cy="0"/>
          </a:xfrm>
          <a:prstGeom prst="line">
            <a:avLst/>
          </a:prstGeom>
          <a:ln w="8890">
            <a:solidFill>
              <a:srgbClr val="AE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858768"/>
            <a:ext cx="5212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EEF0F3"/>
                </a:solidFill>
                <a:latin typeface="Cambria"/>
              </a:rPr>
              <a:t>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9664"/>
            <a:ext cx="50292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EB8C4"/>
                </a:solidFill>
                <a:latin typeface="Aptos"/>
              </a:rPr>
              <a:t>Learning a relationship between text features and the two dataset labels.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417320"/>
            <a:ext cx="5029200" cy="452628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1C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783080"/>
            <a:ext cx="4206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6F432"/>
                </a:solidFill>
                <a:latin typeface="Courier New"/>
              </a:rPr>
              <a:t>IMPLEMENTATION CHOICES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240280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EEF0F3"/>
                </a:solidFill>
                <a:latin typeface="Cambria"/>
              </a:rPr>
              <a:t>Why this baseline?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615184"/>
            <a:ext cx="41605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8C4"/>
                </a:solidFill>
                <a:latin typeface="Aptos"/>
              </a:rPr>
              <a:t>TF-IDF with Logistic Regression is fast to train, simple to inspect and practical for a college web application.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55080" y="3703320"/>
            <a:ext cx="4297680" cy="0"/>
          </a:xfrm>
          <a:prstGeom prst="line">
            <a:avLst/>
          </a:prstGeom>
          <a:ln w="8890">
            <a:solidFill>
              <a:srgbClr val="AE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55080" y="4005072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EEF0F3"/>
                </a:solidFill>
                <a:latin typeface="Cambria"/>
              </a:rPr>
              <a:t>Two input modes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389120"/>
            <a:ext cx="416052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AEB8C4"/>
                </a:solidFill>
                <a:latin typeface="Aptos"/>
              </a:rPr>
              <a:t>A headline uses title text only. A longer input uses title plus article text. The API shows which model was selected.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10241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6F432"/>
                </a:solidFill>
                <a:latin typeface="Courier New"/>
              </a:rPr>
              <a:t>Important: a high score means the language resembles the fake class in this dataset; it does not prove that the claim is false.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777240" cy="438912"/>
          </a:xfrm>
          <a:prstGeom prst="roundRect">
            <a:avLst/>
          </a:prstGeom>
          <a:solidFill>
            <a:srgbClr val="C6F432"/>
          </a:solidFill>
          <a:ln w="8890"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0141A"/>
                </a:solidFill>
                <a:latin typeface="Courier New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83464"/>
            <a:ext cx="9509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EF0F3"/>
                </a:solidFill>
                <a:latin typeface="Cambria"/>
              </a:rPr>
              <a:t>System architecture and model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2823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8C4"/>
                </a:solidFill>
                <a:latin typeface="Courier New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120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C6F432"/>
                </a:solidFill>
                <a:latin typeface="Courier New"/>
              </a:rPr>
              <a:t>TRAINING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1691640" cy="96012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C6F432"/>
                </a:solidFill>
                <a:latin typeface="Courier New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93392"/>
            <a:ext cx="15087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Fake.csv
True.csv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77440" y="1984248"/>
            <a:ext cx="292608" cy="182880"/>
          </a:xfrm>
          <a:prstGeom prst="rightArrow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1600200"/>
            <a:ext cx="1691640" cy="96012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37360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C6F432"/>
                </a:solidFill>
                <a:latin typeface="Courier New"/>
              </a:rPr>
              <a:t>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993392"/>
            <a:ext cx="15087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tokenize
text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72000" y="1984248"/>
            <a:ext cx="292608" cy="182880"/>
          </a:xfrm>
          <a:prstGeom prst="rightArrow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83480" y="1600200"/>
            <a:ext cx="1691640" cy="96012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737360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C6F432"/>
                </a:solidFill>
                <a:latin typeface="Courier New"/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993392"/>
            <a:ext cx="15087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word
TF-IDF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766560" y="1984248"/>
            <a:ext cx="292608" cy="182880"/>
          </a:xfrm>
          <a:prstGeom prst="rightArrow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78040" y="1600200"/>
            <a:ext cx="1691640" cy="96012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9" y="1737360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C6F432"/>
                </a:solidFill>
                <a:latin typeface="Courier New"/>
              </a:rPr>
              <a:t>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1993392"/>
            <a:ext cx="15087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headline +
article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61119" y="1984248"/>
            <a:ext cx="292608" cy="182880"/>
          </a:xfrm>
          <a:prstGeom prst="rightArrow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72600" y="1600200"/>
            <a:ext cx="1691640" cy="96012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1737360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C6F432"/>
                </a:solidFill>
                <a:latin typeface="Courier New"/>
              </a:rPr>
              <a:t>ARTIFACT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1993392"/>
            <a:ext cx="15087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joblib
metadata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063240"/>
            <a:ext cx="5120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2A900"/>
                </a:solidFill>
                <a:latin typeface="Courier New"/>
              </a:rPr>
              <a:t>INFERENCE 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429000"/>
            <a:ext cx="1691640" cy="96012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AE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566160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C6F432"/>
                </a:solidFill>
                <a:latin typeface="Courier New"/>
              </a:rPr>
              <a:t>USER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822191"/>
            <a:ext cx="15087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headline
or article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377440" y="3813048"/>
            <a:ext cx="292608" cy="182880"/>
          </a:xfrm>
          <a:prstGeom prst="rightArrow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88920" y="3429000"/>
            <a:ext cx="1691640" cy="96012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AE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566160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C6F432"/>
                </a:solidFill>
                <a:latin typeface="Courier New"/>
              </a:rPr>
              <a:t>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822191"/>
            <a:ext cx="15087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type +
length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572000" y="3813048"/>
            <a:ext cx="292608" cy="182880"/>
          </a:xfrm>
          <a:prstGeom prst="rightArrow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983480" y="3429000"/>
            <a:ext cx="1691640" cy="960120"/>
          </a:xfrm>
          <a:prstGeom prst="roundRect">
            <a:avLst/>
          </a:prstGeom>
          <a:solidFill>
            <a:srgbClr val="2D271B"/>
          </a:solidFill>
          <a:ln w="8890"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3566160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F2A900"/>
                </a:solidFill>
                <a:latin typeface="Courier New"/>
              </a:rPr>
              <a:t>ROUTE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3822191"/>
            <a:ext cx="15087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≤60 words
headline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6766560" y="3813048"/>
            <a:ext cx="292608" cy="182880"/>
          </a:xfrm>
          <a:prstGeom prst="rightArrow">
            <a:avLst/>
          </a:prstGeom>
          <a:solidFill>
            <a:srgbClr val="F2A900"/>
          </a:solidFill>
          <a:ln>
            <a:solidFill>
              <a:srgbClr val="F2A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78040" y="3429000"/>
            <a:ext cx="1691640" cy="96012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AE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79" y="3566160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C6F432"/>
                </a:solidFill>
                <a:latin typeface="Courier New"/>
              </a:rPr>
              <a:t>PREDICT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79" y="3822191"/>
            <a:ext cx="15087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score +
signals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961119" y="3813048"/>
            <a:ext cx="292608" cy="182880"/>
          </a:xfrm>
          <a:prstGeom prst="rightArrow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72600" y="3429000"/>
            <a:ext cx="1691640" cy="96012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AE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3566160"/>
            <a:ext cx="1508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C6F432"/>
                </a:solidFill>
                <a:latin typeface="Courier New"/>
              </a:rPr>
              <a:t>VERIFY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3822191"/>
            <a:ext cx="15087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EEF0F3"/>
                </a:solidFill>
                <a:latin typeface="Aptos"/>
              </a:rPr>
              <a:t>check
source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4983480"/>
            <a:ext cx="10469880" cy="713232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1C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5193792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EEF0F3"/>
                </a:solidFill>
                <a:latin typeface="Courier New"/>
              </a:rPr>
              <a:t>Run: python training/train_model.py --input data  ·  Start: python server.py  ·  API: POST /api/analyze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74320"/>
            <a:ext cx="777240" cy="438912"/>
          </a:xfrm>
          <a:prstGeom prst="roundRect">
            <a:avLst/>
          </a:prstGeom>
          <a:solidFill>
            <a:srgbClr val="C6F432"/>
          </a:solidFill>
          <a:ln w="8890"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7772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10141A"/>
                </a:solidFill>
                <a:latin typeface="Courier New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283464"/>
            <a:ext cx="95097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EF0F3"/>
                </a:solidFill>
                <a:latin typeface="Cambria"/>
              </a:rPr>
              <a:t>Results and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6428232"/>
            <a:ext cx="5943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AEB8C4"/>
                </a:solidFill>
                <a:latin typeface="Courier New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120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C6F432"/>
                </a:solidFill>
                <a:latin typeface="Courier New"/>
              </a:rPr>
              <a:t>MODEL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218688" cy="123444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1C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C6F432"/>
                </a:solidFill>
                <a:latin typeface="Courier New"/>
              </a:rPr>
              <a:t>ARTICLE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1600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EF0F3"/>
                </a:solidFill>
                <a:latin typeface="Cambria"/>
              </a:rPr>
              <a:t>99.31%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240280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EB8C4"/>
                </a:solidFill>
                <a:latin typeface="Courier New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EB8C4"/>
                </a:solidFill>
                <a:latin typeface="Aptos"/>
              </a:rPr>
              <a:t>99.34%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691640"/>
            <a:ext cx="3218688" cy="123444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1C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901952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F2A900"/>
                </a:solidFill>
                <a:latin typeface="Courier New"/>
              </a:rPr>
              <a:t>HEADLINE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157984"/>
            <a:ext cx="1600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EF0F3"/>
                </a:solidFill>
                <a:latin typeface="Cambria"/>
              </a:rPr>
              <a:t>96.16%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240280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EB8C4"/>
                </a:solidFill>
                <a:latin typeface="Courier New"/>
              </a:rPr>
              <a:t>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670048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EB8C4"/>
                </a:solidFill>
                <a:latin typeface="Aptos"/>
              </a:rPr>
              <a:t>96.29% 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17536" y="1691640"/>
            <a:ext cx="3218688" cy="123444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1C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1901952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C6F432"/>
                </a:solidFill>
                <a:latin typeface="Courier New"/>
              </a:rPr>
              <a:t>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2157984"/>
            <a:ext cx="1600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EEF0F3"/>
                </a:solidFill>
                <a:latin typeface="Cambria"/>
              </a:rPr>
              <a:t>44,898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2240280"/>
            <a:ext cx="10515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EB8C4"/>
                </a:solidFill>
                <a:latin typeface="Courier New"/>
              </a:rPr>
              <a:t>articles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670048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EB8C4"/>
                </a:solidFill>
                <a:latin typeface="Aptos"/>
              </a:rPr>
              <a:t>35,918 train · 8,980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37560"/>
            <a:ext cx="51206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2A900"/>
                </a:solidFill>
                <a:latin typeface="Courier New"/>
              </a:rPr>
              <a:t>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57600"/>
            <a:ext cx="3657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6F432"/>
                </a:solidFill>
                <a:latin typeface="Courier New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639312"/>
            <a:ext cx="498348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EEF0F3"/>
                </a:solidFill>
                <a:latin typeface="Aptos"/>
              </a:rPr>
              <a:t>The dataset contains 44,898 usable articles; 35,918 were used for training and 8,980 for testing.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33087"/>
            <a:ext cx="3657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6F432"/>
                </a:solidFill>
                <a:latin typeface="Courier New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114800"/>
            <a:ext cx="498348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EEF0F3"/>
                </a:solidFill>
                <a:latin typeface="Aptos"/>
              </a:rPr>
              <a:t>Article model: 99.31% accuracy and 99.34% F1 on the held-out split.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08576"/>
            <a:ext cx="3657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C6F432"/>
                </a:solidFill>
                <a:latin typeface="Courier New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590288"/>
            <a:ext cx="4983480" cy="3383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EEF0F3"/>
                </a:solidFill>
                <a:latin typeface="Aptos"/>
              </a:rPr>
              <a:t>Headline model: 96.16% accuracy and 96.29% F1 on the held-out split.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337560"/>
            <a:ext cx="4663440" cy="2148840"/>
          </a:xfrm>
          <a:prstGeom prst="roundRect">
            <a:avLst/>
          </a:prstGeom>
          <a:solidFill>
            <a:srgbClr val="1C232C"/>
          </a:solidFill>
          <a:ln w="8890">
            <a:solidFill>
              <a:srgbClr val="1C23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3611880"/>
            <a:ext cx="40233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C6F432"/>
                </a:solidFill>
                <a:latin typeface="Courier New"/>
              </a:rPr>
              <a:t>CONCLUSION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931920"/>
            <a:ext cx="393192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EEF0F3"/>
                </a:solidFill>
                <a:latin typeface="Cambria"/>
              </a:rPr>
              <a:t>The system works as a screening aid. It still makes mistakes when the dataset and real-world context are different.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892040"/>
            <a:ext cx="3931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Courier New"/>
              </a:rPr>
              <a:t>Use the score to start verification, not to replace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