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NLP APPLICATION / 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63040"/>
            <a:ext cx="658368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200" b="1">
                <a:solidFill>
                  <a:srgbClr val="EEF0F3"/>
                </a:solidFill>
                <a:latin typeface="Cambria"/>
              </a:rPr>
              <a:t>NewsLens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2267712"/>
            <a:ext cx="59436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0">
                <a:solidFill>
                  <a:srgbClr val="AEB8C4"/>
                </a:solidFill>
                <a:latin typeface="Aptos"/>
              </a:rPr>
              <a:t>Explainable fake news detection
using natural language processing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3337560"/>
            <a:ext cx="4334256" cy="0"/>
          </a:xfrm>
          <a:prstGeom prst="line">
            <a:avLst/>
          </a:prstGeom>
          <a:ln w="25400">
            <a:solidFill>
              <a:srgbClr val="C6F4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94944" y="3703320"/>
            <a:ext cx="20116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PRESENTED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4005072"/>
            <a:ext cx="1325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EEF0F3"/>
                </a:solidFill>
                <a:latin typeface="Aptos"/>
              </a:rPr>
              <a:t>Hitesh Sharma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443984"/>
            <a:ext cx="1325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0">
                <a:solidFill>
                  <a:srgbClr val="AEB8C4"/>
                </a:solidFill>
                <a:latin typeface="Courier New"/>
              </a:rPr>
              <a:t>USN: 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4005072"/>
            <a:ext cx="1325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EEF0F3"/>
                </a:solidFill>
                <a:latin typeface="Aptos"/>
              </a:rPr>
              <a:t>Ghanshyam Sharma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4443984"/>
            <a:ext cx="1325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0">
                <a:solidFill>
                  <a:srgbClr val="AEB8C4"/>
                </a:solidFill>
                <a:latin typeface="Courier New"/>
              </a:rPr>
              <a:t>1BM23CS100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4005072"/>
            <a:ext cx="1325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EEF0F3"/>
                </a:solidFill>
                <a:latin typeface="Aptos"/>
              </a:rPr>
              <a:t>Shreyash Shaurya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443984"/>
            <a:ext cx="1325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0">
                <a:solidFill>
                  <a:srgbClr val="AEB8C4"/>
                </a:solidFill>
                <a:latin typeface="Courier New"/>
              </a:rPr>
              <a:t>1BM23CS354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4005072"/>
            <a:ext cx="13258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EEF0F3"/>
                </a:solidFill>
                <a:latin typeface="Aptos"/>
              </a:rPr>
              <a:t>Utkrisht Umang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4443984"/>
            <a:ext cx="1325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0">
                <a:solidFill>
                  <a:srgbClr val="AEB8C4"/>
                </a:solidFill>
                <a:latin typeface="Courier New"/>
              </a:rPr>
              <a:t>1BM23CS355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5029200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EB8C4"/>
                </a:solidFill>
                <a:latin typeface="Aptos"/>
              </a:rPr>
              <a:t>Department of Computer Science and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5577840"/>
            <a:ext cx="5029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Courier New"/>
              </a:rPr>
              <a:t>BMS College of Engineering ·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1005840"/>
            <a:ext cx="3977639" cy="48920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1417320"/>
            <a:ext cx="30175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THE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1810512"/>
            <a:ext cx="2971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Can language
help us pause
before sharing?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18120" y="3136391"/>
            <a:ext cx="3108960" cy="0"/>
          </a:xfrm>
          <a:prstGeom prst="line">
            <a:avLst/>
          </a:prstGeom>
          <a:ln w="762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818120" y="3246120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EB8C4"/>
                </a:solidFill>
                <a:latin typeface="Courier New"/>
              </a:rPr>
              <a:t>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227832"/>
            <a:ext cx="22860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6F432"/>
                </a:solidFill>
                <a:latin typeface="Aptos"/>
              </a:rPr>
              <a:t>headline / article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8120" y="3886200"/>
            <a:ext cx="3108960" cy="0"/>
          </a:xfrm>
          <a:prstGeom prst="line">
            <a:avLst/>
          </a:prstGeom>
          <a:ln w="762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818120" y="39959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EB8C4"/>
                </a:solidFill>
                <a:latin typeface="Courier New"/>
              </a:rPr>
              <a:t>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3977640"/>
            <a:ext cx="22860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Aptos"/>
              </a:rPr>
              <a:t>TF-IDF + Logistic Regression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18120" y="4636007"/>
            <a:ext cx="3108960" cy="0"/>
          </a:xfrm>
          <a:prstGeom prst="line">
            <a:avLst/>
          </a:prstGeom>
          <a:ln w="762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818120" y="4745736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EB8C4"/>
                </a:solidFill>
                <a:latin typeface="Courier New"/>
              </a:rPr>
              <a:t>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727448"/>
            <a:ext cx="22860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6F432"/>
                </a:solidFill>
                <a:latin typeface="Aptos"/>
              </a:rPr>
              <a:t>score +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440680"/>
            <a:ext cx="30175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HUMAN-IN-THE-LOOP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650992"/>
            <a:ext cx="3063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A screening aid, never a truth verdict.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Problem statement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493776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EEF0F3"/>
                </a:solidFill>
                <a:latin typeface="Cambria"/>
              </a:rPr>
              <a:t>Identify language patterns that make a news headline or article deserve verification before it is shared.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82112"/>
            <a:ext cx="475488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EB8C4"/>
                </a:solidFill>
                <a:latin typeface="Aptos"/>
              </a:rPr>
              <a:t>A sensational claim can look persuasive, while legitimate reporting can be written in urgent language. The system must provide a signal with reasons—not an unsupported verdict.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44752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OBJECTIVES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55080" y="1764791"/>
            <a:ext cx="466344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5080" y="187451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6F432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56231"/>
            <a:ext cx="3977639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EEF0F3"/>
                </a:solidFill>
                <a:latin typeface="Aptos"/>
              </a:rPr>
              <a:t>Train on a genuine labelled news dataset with reproducible evaluation.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55080" y="2880359"/>
            <a:ext cx="466344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5080" y="2990087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6F432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971799"/>
            <a:ext cx="3977639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EEF0F3"/>
                </a:solidFill>
                <a:latin typeface="Aptos"/>
              </a:rPr>
              <a:t>Route short headlines and longer articles through suitable models.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55080" y="3995928"/>
            <a:ext cx="466344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55080" y="4105656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6F432"/>
                </a:solidFill>
                <a:latin typeface="Courier New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087368"/>
            <a:ext cx="3977639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EEF0F3"/>
                </a:solidFill>
                <a:latin typeface="Aptos"/>
              </a:rPr>
              <a:t>Explain the result and keep a human responsible for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10469880" cy="713232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68112"/>
            <a:ext cx="9966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6F432"/>
                </a:solidFill>
                <a:latin typeface="Courier New"/>
              </a:rPr>
              <a:t>Scope: English binary screening · local model artifact · Flask API · responsive browser interface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Related work and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2A900"/>
                </a:solidFill>
                <a:latin typeface="Courier New"/>
              </a:rPr>
              <a:t>RELATED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737360"/>
            <a:ext cx="45262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847088"/>
            <a:ext cx="5212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EEF0F3"/>
                </a:solidFill>
                <a:latin typeface="Cambria"/>
              </a:rPr>
              <a:t>LIAR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57984"/>
            <a:ext cx="502920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12.8K manually labelled short statements from PolitiFact; useful for claim-level research.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743200"/>
            <a:ext cx="45262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852928"/>
            <a:ext cx="5212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EEF0F3"/>
                </a:solidFill>
                <a:latin typeface="Cambria"/>
              </a:rPr>
              <a:t>FakeNewsNet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63824"/>
            <a:ext cx="502920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News content plus social-context research data; collection is constrained by copyright and platform policies.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749040"/>
            <a:ext cx="45262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858768"/>
            <a:ext cx="5212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EEF0F3"/>
                </a:solidFill>
                <a:latin typeface="Cambria"/>
              </a:rPr>
              <a:t>Text classifiers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9664"/>
            <a:ext cx="502920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TF-IDF and linear models provide a fast, interpretable baseline for an academic deployment.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417320"/>
            <a:ext cx="5029200" cy="452628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83080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OUR CONTRIBUTION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40280"/>
            <a:ext cx="4114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EEF0F3"/>
                </a:solidFill>
                <a:latin typeface="Cambria"/>
              </a:rPr>
              <a:t>Project 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615184"/>
            <a:ext cx="41605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EB8C4"/>
                </a:solidFill>
                <a:latin typeface="Aptos"/>
              </a:rPr>
              <a:t>A compact, explainable detector that distinguishes headline inputs from full article inputs and makes uncertainty visible.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5080" y="3703320"/>
            <a:ext cx="42976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5080" y="4005072"/>
            <a:ext cx="4114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EEF0F3"/>
                </a:solidFill>
                <a:latin typeface="Cambria"/>
              </a:rPr>
              <a:t>Our approach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89120"/>
            <a:ext cx="416052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EB8C4"/>
                </a:solidFill>
                <a:latin typeface="Aptos"/>
              </a:rPr>
              <a:t>Use the ISOT dataset, train separate TF-IDF + Logistic Regression pipelines, expose a Flask API, and require human source verification.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72200"/>
            <a:ext cx="10241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Gap addressed: many demos return a label; NewsLens pairs a model output with input-aware routing, provenance, metrics, and ethical guidance.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System architecture and model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TRAINING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Fake.csv
True.csv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77440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8892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NLP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spaCy
tokenization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572000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8348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bounded
word TF-IDF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66560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7804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79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headline +
article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961119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7260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ARTIFACT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joblib
metadata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6324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2A900"/>
                </a:solidFill>
                <a:latin typeface="Courier New"/>
              </a:rPr>
              <a:t>INFERENCE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USER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headline
or article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2377440" y="38130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8892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VALIDATE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type +
length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572000" y="38130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983480" y="3429000"/>
            <a:ext cx="1691640" cy="960120"/>
          </a:xfrm>
          <a:prstGeom prst="roundRect">
            <a:avLst/>
          </a:prstGeom>
          <a:solidFill>
            <a:srgbClr val="2D271B"/>
          </a:solidFill>
          <a:ln w="8890">
            <a:solidFill>
              <a:srgbClr val="F2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7492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2A900"/>
                </a:solidFill>
                <a:latin typeface="Courier New"/>
              </a:rPr>
              <a:t>ROUTE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≤60 words
headline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6766560" y="3813048"/>
            <a:ext cx="292608" cy="182880"/>
          </a:xfrm>
          <a:prstGeom prst="rightArrow">
            <a:avLst/>
          </a:prstGeom>
          <a:solidFill>
            <a:srgbClr val="F2A900"/>
          </a:solidFill>
          <a:ln>
            <a:solidFill>
              <a:srgbClr val="F2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17804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9479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PREDICT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79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probability
+ signals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961119" y="38130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37260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VERIFY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human
source check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83480"/>
            <a:ext cx="10469880" cy="713232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193792"/>
            <a:ext cx="98755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Courier New"/>
              </a:rPr>
              <a:t>API: GET /api/health  ·  POST /api/analyze  ·  Model loads a saved artifact; startup does not retrain.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Results and 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MODEL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218688" cy="12344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0195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C6F432"/>
                </a:solidFill>
                <a:latin typeface="Courier New"/>
              </a:rPr>
              <a:t>ARTICLE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1600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99.31%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240280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Courier New"/>
              </a:rP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Aptos"/>
              </a:rPr>
              <a:t>99.34% F1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691640"/>
            <a:ext cx="3218688" cy="12344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90195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F2A900"/>
                </a:solidFill>
                <a:latin typeface="Courier New"/>
              </a:rPr>
              <a:t>HEADLINE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157984"/>
            <a:ext cx="1600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96.16%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240280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Courier New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67004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Aptos"/>
              </a:rPr>
              <a:t>96.29% 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17536" y="1691640"/>
            <a:ext cx="3218688" cy="12344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6136" y="190195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C6F432"/>
                </a:solidFill>
                <a:latin typeface="Courier New"/>
              </a:rPr>
              <a:t>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6136" y="2157984"/>
            <a:ext cx="1600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44,898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2240280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Courier New"/>
              </a:rPr>
              <a:t>articles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46136" y="267004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Aptos"/>
              </a:rPr>
              <a:t>35,918 train · 8,980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2A900"/>
                </a:solidFill>
                <a:latin typeface="Courier New"/>
              </a:rPr>
              <a:t>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657600"/>
            <a:ext cx="36576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639312"/>
            <a:ext cx="49834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EEF0F3"/>
                </a:solidFill>
                <a:latin typeface="Aptos"/>
              </a:rPr>
              <a:t>Actual labelled rows from True.csv and Fake.csv produced the expected lower-risk and high-risk outcomes.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33087"/>
            <a:ext cx="36576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14800"/>
            <a:ext cx="49834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EEF0F3"/>
                </a:solidFill>
                <a:latin typeface="Aptos"/>
              </a:rPr>
              <a:t>Short inputs route to the headline model; full articles route to the article model.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08576"/>
            <a:ext cx="36576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90288"/>
            <a:ext cx="49834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EEF0F3"/>
                </a:solidFill>
                <a:latin typeface="Aptos"/>
              </a:rPr>
              <a:t>Random holdout metrics are not proof of real-world factual accuracy; publisher and topic leakage remain risks.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337560"/>
            <a:ext cx="4663440" cy="21488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611880"/>
            <a:ext cx="40233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931920"/>
            <a:ext cx="393192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EEF0F3"/>
                </a:solidFill>
                <a:latin typeface="Cambria"/>
              </a:rPr>
              <a:t>NewsLens turns NLP signals into a transparent verification aid—not an autonomous truth engine.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892040"/>
            <a:ext cx="3931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Courier New"/>
              </a:rPr>
              <a:t>Pause · inspect the evidence · verify before sharing.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