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4114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NLP APPLICATION / 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1463040"/>
            <a:ext cx="658368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5200" b="1">
                <a:solidFill>
                  <a:srgbClr val="EEF0F3"/>
                </a:solidFill>
                <a:latin typeface="Cambria"/>
              </a:rPr>
              <a:t>NewsLens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2267712"/>
            <a:ext cx="594360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0">
                <a:solidFill>
                  <a:srgbClr val="AEB8C4"/>
                </a:solidFill>
                <a:latin typeface="Aptos"/>
              </a:rPr>
              <a:t>Explainable fake news detection
using natural language processing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94944" y="3337560"/>
            <a:ext cx="4334256" cy="0"/>
          </a:xfrm>
          <a:prstGeom prst="line">
            <a:avLst/>
          </a:prstGeom>
          <a:ln w="25400">
            <a:solidFill>
              <a:srgbClr val="C6F43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94944" y="3703320"/>
            <a:ext cx="201168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PRESENTED BY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4005072"/>
            <a:ext cx="429768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EEF0F3"/>
                </a:solidFill>
                <a:latin typeface="Aptos"/>
              </a:rPr>
              <a:t>Hitesh Sharma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4498848"/>
            <a:ext cx="42976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EB8C4"/>
                </a:solidFill>
                <a:latin typeface="Courier New"/>
              </a:rPr>
              <a:t>USN: ____________________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5029200"/>
            <a:ext cx="5029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0">
                <a:solidFill>
                  <a:srgbClr val="AEB8C4"/>
                </a:solidFill>
                <a:latin typeface="Aptos"/>
              </a:rPr>
              <a:t>Department of Computer Science and Engineering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5577840"/>
            <a:ext cx="502920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Courier New"/>
              </a:rPr>
              <a:t>BMS College of Engineering ·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005840"/>
            <a:ext cx="3977639" cy="48920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18120" y="1417320"/>
            <a:ext cx="3017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THE QUESTION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1810512"/>
            <a:ext cx="29718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Can language
help us pause
before sharing?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18120" y="3136391"/>
            <a:ext cx="3108960" cy="0"/>
          </a:xfrm>
          <a:prstGeom prst="line">
            <a:avLst/>
          </a:prstGeom>
          <a:ln w="762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818120" y="3246120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EB8C4"/>
                </a:solidFill>
                <a:latin typeface="Courier New"/>
              </a:rPr>
              <a:t>INPUT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32520" y="3227832"/>
            <a:ext cx="2286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6F432"/>
                </a:solidFill>
                <a:latin typeface="Aptos"/>
              </a:rPr>
              <a:t>headline / article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818120" y="3886200"/>
            <a:ext cx="3108960" cy="0"/>
          </a:xfrm>
          <a:prstGeom prst="line">
            <a:avLst/>
          </a:prstGeom>
          <a:ln w="762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818120" y="3995928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EB8C4"/>
                </a:solidFill>
                <a:latin typeface="Courier New"/>
              </a:rPr>
              <a:t>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3977640"/>
            <a:ext cx="2286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Aptos"/>
              </a:rPr>
              <a:t>TF-IDF + Logistic Regression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818120" y="4636007"/>
            <a:ext cx="3108960" cy="0"/>
          </a:xfrm>
          <a:prstGeom prst="line">
            <a:avLst/>
          </a:prstGeom>
          <a:ln w="762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818120" y="4745736"/>
            <a:ext cx="8229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AEB8C4"/>
                </a:solidFill>
                <a:latin typeface="Courier New"/>
              </a:rPr>
              <a:t>OUTPUT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4727448"/>
            <a:ext cx="2286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C6F432"/>
                </a:solidFill>
                <a:latin typeface="Aptos"/>
              </a:rPr>
              <a:t>score +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18120" y="5440680"/>
            <a:ext cx="30175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HUMAN-IN-THE-LOOP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8120" y="5650992"/>
            <a:ext cx="3063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A screening aid, never a truth verdict.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Problem statement and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810512"/>
            <a:ext cx="493776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EEF0F3"/>
                </a:solidFill>
                <a:latin typeface="Cambria"/>
              </a:rPr>
              <a:t>Identify language patterns that make a news headline or article deserve verification before it is shared.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82112"/>
            <a:ext cx="475488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AEB8C4"/>
                </a:solidFill>
                <a:latin typeface="Aptos"/>
              </a:rPr>
              <a:t>A sensational claim can look persuasive, while legitimate reporting can be written in urgent language. The system must provide a signal with reasons—not an unsupported verdict.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1444752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OBJECTIVES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55080" y="1764791"/>
            <a:ext cx="466344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5080" y="1874519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6F432"/>
                </a:solidFill>
                <a:latin typeface="Courier New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1856231"/>
            <a:ext cx="3977639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EEF0F3"/>
                </a:solidFill>
                <a:latin typeface="Aptos"/>
              </a:rPr>
              <a:t>Train on a genuine labelled news dataset with reproducible evaluation.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55080" y="2880359"/>
            <a:ext cx="466344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355080" y="2990087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6F432"/>
                </a:solidFill>
                <a:latin typeface="Courier New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971799"/>
            <a:ext cx="3977639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EEF0F3"/>
                </a:solidFill>
                <a:latin typeface="Aptos"/>
              </a:rPr>
              <a:t>Route short headlines and longer articles through suitable models.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355080" y="3995928"/>
            <a:ext cx="466344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55080" y="4105656"/>
            <a:ext cx="566928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C6F432"/>
                </a:solidFill>
                <a:latin typeface="Courier New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4087368"/>
            <a:ext cx="3977639" cy="6217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EEF0F3"/>
                </a:solidFill>
                <a:latin typeface="Aptos"/>
              </a:rPr>
              <a:t>Explain the result and keep a human responsible for verification.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57800"/>
            <a:ext cx="10469880" cy="713232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468112"/>
            <a:ext cx="99669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C6F432"/>
                </a:solidFill>
                <a:latin typeface="Courier New"/>
              </a:rPr>
              <a:t>Scope: English binary screening · local model artifact · Flask API · responsive browser interface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Related work and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44752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2A900"/>
                </a:solidFill>
                <a:latin typeface="Courier New"/>
              </a:rPr>
              <a:t>RELATED WORK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48640" y="1737360"/>
            <a:ext cx="45262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48640" y="1847088"/>
            <a:ext cx="5212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EEF0F3"/>
                </a:solidFill>
                <a:latin typeface="Cambria"/>
              </a:rPr>
              <a:t>LIAR benchmark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57984"/>
            <a:ext cx="502920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12.8K manually labelled short statements from PolitiFact; useful for claim-level research.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48640" y="2743200"/>
            <a:ext cx="45262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2852928"/>
            <a:ext cx="5212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EEF0F3"/>
                </a:solidFill>
                <a:latin typeface="Cambria"/>
              </a:rPr>
              <a:t>FakeNewsNet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163824"/>
            <a:ext cx="502920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News content plus social-context research data; collection is constrained by copyright and platform policies.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48640" y="3749040"/>
            <a:ext cx="45262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858768"/>
            <a:ext cx="5212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EEF0F3"/>
                </a:solidFill>
                <a:latin typeface="Cambria"/>
              </a:rPr>
              <a:t>Text classifiers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169664"/>
            <a:ext cx="5029200" cy="49377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AEB8C4"/>
                </a:solidFill>
                <a:latin typeface="Aptos"/>
              </a:rPr>
              <a:t>TF-IDF and linear models provide a fast, interpretable baseline for an academic deployment.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417320"/>
            <a:ext cx="5029200" cy="452628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1783080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OUR CONTRIBUTION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240280"/>
            <a:ext cx="4114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EEF0F3"/>
                </a:solidFill>
                <a:latin typeface="Cambria"/>
              </a:rPr>
              <a:t>Project focus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2615184"/>
            <a:ext cx="4160520" cy="7772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EB8C4"/>
                </a:solidFill>
                <a:latin typeface="Aptos"/>
              </a:rPr>
              <a:t>A compact, explainable detector that distinguishes headline inputs from full article inputs and makes uncertainty visible.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355080" y="3703320"/>
            <a:ext cx="4297680" cy="0"/>
          </a:xfrm>
          <a:prstGeom prst="line">
            <a:avLst/>
          </a:prstGeom>
          <a:ln w="8890">
            <a:solidFill>
              <a:srgbClr val="AEB8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55080" y="4005072"/>
            <a:ext cx="4114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EEF0F3"/>
                </a:solidFill>
                <a:latin typeface="Cambria"/>
              </a:rPr>
              <a:t>Our approach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89120"/>
            <a:ext cx="416052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AEB8C4"/>
                </a:solidFill>
                <a:latin typeface="Aptos"/>
              </a:rPr>
              <a:t>Use the ISOT dataset, train separate TF-IDF + Logistic Regression pipelines, expose a Flask API, and require human source verification.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6172200"/>
            <a:ext cx="102412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Gap addressed: many demos return a label; NewsLens pairs a model output with input-aware routing, provenance, metrics, and ethical guidance.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System architecture and model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TRAINING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Fake.csv
True.csv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377440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8892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8036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NLP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spaCy
tokenization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572000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98348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FEATURES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bounded
word TF-IDF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66560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7804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79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MODELS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79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headline +
article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961119" y="19842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72600" y="16002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17373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ARTIFACT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1993392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joblib
metadata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6324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2A900"/>
                </a:solidFill>
                <a:latin typeface="Courier New"/>
              </a:rPr>
              <a:t>INFERENCE PIPELINE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USER 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headline
or article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2377440" y="38130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278892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36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VALIDATE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type +
length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4572000" y="38130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4983480" y="3429000"/>
            <a:ext cx="1691640" cy="960120"/>
          </a:xfrm>
          <a:prstGeom prst="roundRect">
            <a:avLst/>
          </a:prstGeom>
          <a:solidFill>
            <a:srgbClr val="2D271B"/>
          </a:solidFill>
          <a:ln w="8890">
            <a:solidFill>
              <a:srgbClr val="F2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7492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F2A900"/>
                </a:solidFill>
                <a:latin typeface="Courier New"/>
              </a:rPr>
              <a:t>ROUTE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≤60 words
headline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6766560" y="3813048"/>
            <a:ext cx="292608" cy="182880"/>
          </a:xfrm>
          <a:prstGeom prst="rightArrow">
            <a:avLst/>
          </a:prstGeom>
          <a:solidFill>
            <a:srgbClr val="F2A900"/>
          </a:solidFill>
          <a:ln>
            <a:solidFill>
              <a:srgbClr val="F2A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717804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69479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PREDICT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69479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probability
+ signals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961119" y="3813048"/>
            <a:ext cx="292608" cy="182880"/>
          </a:xfrm>
          <a:prstGeom prst="rightArrow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9372600" y="3429000"/>
            <a:ext cx="1691640" cy="96012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AEB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464040" y="3566160"/>
            <a:ext cx="15087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800" b="1">
                <a:solidFill>
                  <a:srgbClr val="C6F432"/>
                </a:solidFill>
                <a:latin typeface="Courier New"/>
              </a:rPr>
              <a:t>VERIFY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64040" y="3822191"/>
            <a:ext cx="1508760" cy="39319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Aptos"/>
              </a:rPr>
              <a:t>human
source check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4983480"/>
            <a:ext cx="10469880" cy="713232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5193792"/>
            <a:ext cx="98755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EEF0F3"/>
                </a:solidFill>
                <a:latin typeface="Courier New"/>
              </a:rPr>
              <a:t>API: GET /api/health  ·  POST /api/analyze  ·  Model loads a saved artifact; startup does not retrain.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4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274320"/>
            <a:ext cx="777240" cy="438912"/>
          </a:xfrm>
          <a:prstGeom prst="roundRect">
            <a:avLst/>
          </a:prstGeom>
          <a:solidFill>
            <a:srgbClr val="C6F432"/>
          </a:solidFill>
          <a:ln w="8890"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777240" cy="438912"/>
          </a:xfrm>
          <a:prstGeom prst="rect">
            <a:avLst/>
          </a:prstGeom>
          <a:noFill/>
        </p:spPr>
        <p:txBody>
          <a:bodyPr wrap="square" lIns="36576" rIns="36576" tIns="36576" bIns="36576" anchor="ctr">
            <a:spAutoFit/>
          </a:bodyPr>
          <a:lstStyle/>
          <a:p>
            <a:pPr algn="ctr"/>
            <a:r>
              <a:rPr sz="1200" b="1">
                <a:solidFill>
                  <a:srgbClr val="10141A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283464"/>
            <a:ext cx="950976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Results and 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27080" y="6428232"/>
            <a:ext cx="5943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AEB8C4"/>
                </a:solidFill>
                <a:latin typeface="Courier New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MODEL RESULTS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91640"/>
            <a:ext cx="3218688" cy="12344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0195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C6F432"/>
                </a:solidFill>
                <a:latin typeface="Courier New"/>
              </a:rPr>
              <a:t>ARTICLE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57984"/>
            <a:ext cx="1600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99.31%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2240280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Courier New"/>
              </a:rPr>
              <a:t>accuracy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Aptos"/>
              </a:rPr>
              <a:t>99.34% F1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33087" y="1691640"/>
            <a:ext cx="3218688" cy="12344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61688" y="190195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F2A900"/>
                </a:solidFill>
                <a:latin typeface="Courier New"/>
              </a:rPr>
              <a:t>HEADLINE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61688" y="2157984"/>
            <a:ext cx="1600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96.16%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61888" y="2240280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Courier New"/>
              </a:rPr>
              <a:t>accuracy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61688" y="267004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Aptos"/>
              </a:rPr>
              <a:t>96.29% F1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17536" y="1691640"/>
            <a:ext cx="3218688" cy="12344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46136" y="1901952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00" b="1">
                <a:solidFill>
                  <a:srgbClr val="C6F432"/>
                </a:solidFill>
                <a:latin typeface="Courier New"/>
              </a:rPr>
              <a:t>DATASET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6136" y="2157984"/>
            <a:ext cx="1600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EEF0F3"/>
                </a:solidFill>
                <a:latin typeface="Cambria"/>
              </a:rPr>
              <a:t>44,898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6336" y="2240280"/>
            <a:ext cx="105156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Courier New"/>
              </a:rPr>
              <a:t>articles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46136" y="2670048"/>
            <a:ext cx="274320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AEB8C4"/>
                </a:solidFill>
                <a:latin typeface="Aptos"/>
              </a:rPr>
              <a:t>35,918 train · 8,980 test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337560"/>
            <a:ext cx="5120640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F2A900"/>
                </a:solidFill>
                <a:latin typeface="Courier New"/>
              </a:rPr>
              <a:t>OBSERVATIONS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657600"/>
            <a:ext cx="365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3639312"/>
            <a:ext cx="49834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EEF0F3"/>
                </a:solidFill>
                <a:latin typeface="Aptos"/>
              </a:rPr>
              <a:t>Actual labelled rows from True.csv and Fake.csv produced the expected lower-risk and high-risk outcomes.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133087"/>
            <a:ext cx="365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4114800"/>
            <a:ext cx="49834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EEF0F3"/>
                </a:solidFill>
                <a:latin typeface="Aptos"/>
              </a:rPr>
              <a:t>Short inputs route to the headline model; full articles route to the article model.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608576"/>
            <a:ext cx="365760" cy="2103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C6F432"/>
                </a:solidFill>
                <a:latin typeface="Courier New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5840" y="4590288"/>
            <a:ext cx="4983480" cy="3383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EEF0F3"/>
                </a:solidFill>
                <a:latin typeface="Aptos"/>
              </a:rPr>
              <a:t>Random holdout metrics are not proof of real-world factual accuracy; publisher and topic leakage remain risks.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55080" y="3337560"/>
            <a:ext cx="4663440" cy="2148840"/>
          </a:xfrm>
          <a:prstGeom prst="roundRect">
            <a:avLst/>
          </a:prstGeom>
          <a:solidFill>
            <a:srgbClr val="1C232C"/>
          </a:solidFill>
          <a:ln w="8890">
            <a:solidFill>
              <a:srgbClr val="1C23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3611880"/>
            <a:ext cx="40233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1">
                <a:solidFill>
                  <a:srgbClr val="C6F432"/>
                </a:solidFill>
                <a:latin typeface="Courier New"/>
              </a:rPr>
              <a:t>CONCLUSION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3931920"/>
            <a:ext cx="393192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EEF0F3"/>
                </a:solidFill>
                <a:latin typeface="Cambria"/>
              </a:rPr>
              <a:t>NewsLens turns NLP signals into a transparent verification aid—not an autonomous truth engine.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75120" y="4892040"/>
            <a:ext cx="393192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F2A900"/>
                </a:solidFill>
                <a:latin typeface="Courier New"/>
              </a:rPr>
              <a:t>Pause · inspect the evidence · verify before sharing.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